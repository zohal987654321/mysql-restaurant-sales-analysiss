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65" r:id="rId12"/>
    <p:sldId id="266" r:id="rId13"/>
    <p:sldId id="267" r:id="rId14"/>
    <p:sldId id="268" r:id="rId15"/>
    <p:sldId id="269" r:id="rId16"/>
    <p:sldId id="281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F9AABF-AAF1-43D3-B95E-98D3DE5CF785}" v="36" dt="2025-03-25T06:50:18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14:27.6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137 110,'1'-1,"-1"-1,1 1,-1 0,1 0,-1 0,1 0,0-1,0 1,0 0,-1 0,1 0,0 1,0-1,0 0,0 0,1 0,-1 1,0-1,2 0,28-13,-27 13,9-4,1 1,0 0,0 1,0 0,0 1,1 1,-1 1,0 0,1 0,20 4,-12 1,-1 1,0 1,0 1,-1 0,36 21,18 15,-35-19,1-2,48 18,-72-33,-1 0,0 2,0 0,19 16,-17-13,0 0,24 12,60 29,-54-27,1-2,2-2,89 27,-67-33,-41-11,0 2,0 1,48 21,-73-27,0 0,0 0,-1 0,1 1,-1 0,0 0,0 0,0 1,-1 0,1 0,-1 1,-1-1,1 1,-1 0,0 0,4 8,19 45,-2 1,29 108,-49-153,0 0,2 0,-1-1,14 21,-13-25,0 0,-1 1,-1 0,0 0,-1 0,0 1,0 0,2 15,-6-24,0-1,0 1,-1-1,1 1,0-1,-1 1,0-1,1 0,-1 1,0-1,0 0,0 1,-1-1,1 0,0 0,-1 0,1 0,-1 0,0-1,0 1,0 0,0-1,0 0,0 1,0-1,0 0,0 0,-1 0,1 0,0 0,-1-1,1 1,-5 0,-10 1,1 0,-1-1,-33-2,30 1,-25-4,0-2,1-1,-65-20,66 15,-1 1,1 3,-77-5,108 11,0 0,-1 0,1-1,0-1,1 0,-1-1,1 0,-1 0,-19-14,15 9,-1 1,1 0,-30-9,2 7,0 1,0 3,-1 1,1 2,-48 3,7-1,-103-17,149 15,0 1,-61 3,83 1,0 1,0 1,0 0,1 2,-1-1,1 2,0 0,-18 11,34-17,-1 0,1 0,0 0,0 0,0 0,0 0,-1 0,1 0,0 0,0 0,0 0,0 0,0 0,0 0,-1 1,1-1,0 0,0 0,0 0,0 0,0 0,0 0,0 0,0 1,-1-1,1 0,0 0,0 0,0 0,0 0,0 0,0 1,0-1,0 0,0 0,0 0,0 0,0 0,0 1,0-1,0 0,0 0,0 0,0 0,0 0,0 1,0-1,0 0,0 0,0 0,1 0,-1 0,0 1,0-1,0 0,0 0,13 3,16-1,-16-1,1 1,-1 0,1 0,-1 2,0 0,0 0,-1 1,1 0,-1 2,0-1,15 12,11 4,-27-17,0 0,0-1,1 0,-1 0,1-1,0-1,0 0,14 0,103-4,-56-2,307-9,66-1,-431 14,0 0,0-1,0-1,0 0,0-1,14-5,-21 5,0-1,0 1,-1-2,1 1,-1-1,0 0,0-1,0 1,-1-1,0-1,8-10,-6 7,-2-1,1 0,-1 0,-1-1,0 0,-1 0,0 0,0 0,-2-1,3-17,-2-13,-5-76,0 46,2 56,-1 0,0 0,-2 0,0 1,0-1,-2 1,-9-24,12 37,0 0,-1 0,1 1,-1-1,1 1,-1-1,0 1,0 0,0 0,0 0,0 0,0 1,-1 0,1-1,-1 1,1 0,-1 0,1 1,-1-1,-4 1,-11-1,-1 0,-31 4,21 0,-271 24,43-1,-14-22,247 0,0 0,0 2,0 1,-26 11,30-9,-1-2,-1 0,0-1,1-2,-38 4,46-9,-1-1,0 0,1-1,-1-1,1 0,0 0,0-2,-14-7,2 0,1-1,0-2,-27-22,45 32,0-1,0 0,0 0,1 0,0-1,0 0,1 0,0-1,1 0,0 1,-4-13,6 17,1 0,0-1,0 1,1 0,-1-1,1 1,0-1,0 1,0-1,1 1,-1 0,1-1,0 1,1 0,-1 0,1 0,0-1,0 2,0-1,0 0,0 0,1 1,0-1,0 1,0 0,6-5,33-21,1 1,1 3,67-28,-20 10,-57 27,1 2,0 2,1 1,1 2,0 1,0 2,0 1,1 3,59 2,56 2,429-4,-461-12,-89 8,0 2,62 1,-92 3,1 0,-1 0,0 1,0-1,1 1,-1 0,0 0,0 0,0 0,0 0,0 0,0 0,0 1,0-1,-1 1,1-1,0 1,-1 0,1-1,-1 1,0 0,0 0,1 0,-1 0,-1 0,1 0,0 1,0-1,0 3,1 7,0 1,-1 0,0 0,-1 17,0 6,5 2,2 1,2-2,22 62,-19-67,-2 0,-1 0,-1 1,-2 0,4 68,-11-73,1 2,-1-1,-10 56,9-76,-1 0,1-1,-1 1,-1-1,0 0,0 0,0 0,-1 0,0-1,-1 0,0 0,0 0,-13 10,-141 90,77-55,71-43,0-1,-1-1,0-1,0 0,-1 0,0-1,0-1,0 0,0-1,-1-1,1 0,-1-1,-16-1,-35 3,0 3,-102 23,166-29,-39 6,0-3,-1-1,1-2,-1-2,-77-14,107 14,-54-5,-46-9,90 11,0 1,0 2,0-1,0 2,0 1,0 1,0 1,0 1,0 1,0 0,1 2,0 1,-39 17,-21 18,57-31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14:58.5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0,'5'0,"6"0,6 0,-1 5,3 1,2 0,3-1,1-1,1-2,1-1,1-1,0 0,-5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06:15:00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 0,'902'-55'0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15:03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1,'1125'0,"-1102"0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15:03.1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15:05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4,'85'-2,"-35"0,0 2,-1 2,1 3,66 13,-30 2,-49-13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15:06.5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18:53.3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0,'18'5,"30"10,16 8,1 0,-5 0,-9-3,-7-5,-8-1,-5-3,2-3,4-3,6 3,-5-1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06:27:41.7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0,'3660'219'0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27:51.261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95,'17'-1,"-1"-1,0-1,0 0,0-1,23-10,-21 7,1 1,1 1,22-3,1 5,-1 2,0 2,1 1,-1 3,0 1,73 21,267 88,270 73,-625-182,0-2,1 0,0-2,0-1,0-2,30-3,158-38,-116 19,169-36,-77 13,346-35,-484 76,-1-1,77-21,-103 22,0 1,0 2,0 1,29 2,-28 0,1-2,0 0,40-8,154-58,-201 59,1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36:18.7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418 34,'44'0,"0"-3,65-11,-64 7,0 2,0 2,1 2,46 5,179 31,-123-12,67 16,409 130,-254-19,-210-79,-148-66,1 0,0-1,1 0,-1-1,0-1,1 0,0-1,0 0,-1-1,27-3,-23-1,1 0,0-1,-1-1,0 0,-1-1,1-1,21-15,-36 22,1 0,-1 0,0 0,0-1,0 1,0-1,0 1,0-1,-1 0,1 0,-1 0,1 0,-1 0,1 0,-1 0,0 0,1-4,-2 4,-1 0,1 1,-1-1,0 1,1-1,-1 1,0-1,0 1,0 0,0-1,0 1,0 0,0 0,-1 0,1 0,0 0,-1 0,1 0,-1 0,1 0,-1 1,1-1,-1 0,1 1,-1 0,-2-1,-49-16,-2 3,-107-13,123 21,-72-4,0 5,-136 12,112 6,-17 1,-16-14,-63 2,171 5,-92 22,27-4,-88 18,103-19,40-13,51-9,0 1,0 0,0 1,0 1,0 1,1 1,-29 15,46-22,0 0,0 1,0-1,0 0,0 1,1-1,-1 1,0-1,0 1,1 0,-1-1,0 1,1 0,-1-1,1 1,-1 0,1 0,-1-1,1 1,-1 0,1 0,0 0,-1 0,1 0,0 1,1-1,0 0,0-1,-1 1,2-1,-1 1,0-1,0 0,0 1,0-1,0 0,0 0,0 1,0-1,0 0,0 0,3-1,52-4,33-10,0 5,1 3,0 4,113 11,625 35,-737-45,-17-1,0 3,0 4,79 13,-106-10,0-3,87-2,-96-3,-23 2,-15 3,-29 7,-41 2,-2-3,-96 2,43-5,-839 119,774-95,-314 11,98-13,106-3,333-24,0 3,-1 0,62 20,76 14,-73-30,182-8,-133-4,1178 2,-1242 5,88 15,-121-13,-18 0,54 16,3 2,49 2,-59-14,0 4,135 48,-198-56,-14-3,-35-1,-109-14,-240-47,-82-8,281 60,-264 25,-171 57,605-75,-483 56,418-45,-176 22,253-35,-1 0,1 0,-1 0,1 1,-1-1,1 1,-1-1,1 1,0 0,-1 0,1 0,0 0,0 0,0 0,-4 3,6-3,0 0,0 0,0 0,0-1,1 1,-1 0,0 0,0 0,1-1,-1 1,0 0,1 0,-1-1,1 1,-1 0,1-1,-1 1,1 0,-1-1,1 1,0-1,-1 1,1-1,0 1,0-1,-1 0,1 1,0-1,1 0,16 10,1-2,29 10,137 41,2-9,2-7,204 18,-21-57,-211-8,63 2,419 4,-589 1,0 1,-1 3,0 2,90 28,-95-21,-11-5,1 3,34 17,-53-17,-19-13,1-1,-1 0,0 0,0 1,0-1,1 0,-1 1,0-1,0 0,0 1,0-1,0 0,0 1,0-1,0 0,0 1,0-1,0 0,0 1,0-1,0 0,0 1,0-1,0 0,0 0,0 1,0-1,-1 0,1 1,0-1,0 0,-1 1,-1 0,-1 1,1-1,-1 0,1 0,-1 0,0 0,1-1,-1 1,0-1,0 1,0-1,1 0,-4-1,-90-3,1-5,-104-24,14 3,-169-7,-520 11,699 24,-127 6,287-1,1 0,-1 1,1 1,0 0,0 1,0 1,1 0,-24 16,19-11,0-1,-1-1,-36 14,-13-8,49-12,-1 0,1 2,-26 10,44-16,1 0,0 0,-1 1,1-1,0 0,0 0,-1 1,1-1,0 0,0 1,-1-1,1 0,0 1,0-1,0 0,0 1,0-1,-1 0,1 1,0-1,0 0,0 1,0-1,0 0,0 1,0-1,0 0,0 1,1-1,-1 1,0-1,0 0,0 1,0-1,0 0,1 1,-1-1,0 0,0 0,0 1,1-1,-1 0,0 0,1 1,15 15,-13-13,32 27,0-1,2-2,2-1,0-3,1 0,1-3,60 20,-83-35,1-1,0-1,0-1,0-1,0 0,0-1,36-6,3-5,68-22,14-3,-116 31,33-7,1 3,100-4,-31 14,1 5,159 29,-215-22,30 8,0-4,1-5,119-1,-164-10,112 16,-157-15,15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06:36:20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0,'3246'0'0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6:36:22.9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2004 1,'-1'1,"1"1,-1 0,0 0,1 0,-1 0,0 0,0-1,-1 1,1 0,0-1,-1 1,1-1,0 1,-1-1,0 0,1 1,-1-1,0 0,1 0,-1 0,0-1,0 1,-3 0,-48 14,-24-7,-1-3,-84-7,51 0,-1352 0,1439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5T06:41:45.2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0,'2705'0'0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2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01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11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605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93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72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270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16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74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03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85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E23C6-2258-47AD-B0BC-1C8AD7722EAD}" type="datetimeFigureOut">
              <a:rPr lang="en-AU" smtClean="0"/>
              <a:t>25/03/2025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87035A2-47F5-4770-9A2D-B74D146A2BE9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48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4.xml"/><Relationship Id="rId1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1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9000"/>
                    </a14:imgEffect>
                  </a14:imgLayer>
                </a14:imgProps>
              </a:ext>
            </a:extLst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623BA31-5D23-D9B7-696B-1981DF1EDE70}"/>
              </a:ext>
            </a:extLst>
          </p:cNvPr>
          <p:cNvSpPr txBox="1"/>
          <p:nvPr/>
        </p:nvSpPr>
        <p:spPr>
          <a:xfrm>
            <a:off x="3082412" y="2221401"/>
            <a:ext cx="834758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b="1">
                <a:solidFill>
                  <a:srgbClr val="92D050"/>
                </a:solidFill>
                <a:latin typeface="Rockwell Extra Bold" panose="02060903040505020403" pitchFamily="18" charset="0"/>
              </a:rPr>
              <a:t>Restaurant Data Analysis</a:t>
            </a:r>
          </a:p>
          <a:p>
            <a:endParaRPr lang="en-AU" b="1">
              <a:solidFill>
                <a:srgbClr val="92D050"/>
              </a:solidFill>
              <a:latin typeface="Rockwell Extra Bold" panose="02060903040505020403" pitchFamily="18" charset="0"/>
            </a:endParaRPr>
          </a:p>
          <a:p>
            <a:r>
              <a:rPr lang="en-AU" b="1">
                <a:solidFill>
                  <a:srgbClr val="92D050"/>
                </a:solidFill>
                <a:latin typeface="Rockwell Extra Bold" panose="02060903040505020403" pitchFamily="18" charset="0"/>
              </a:rPr>
              <a:t>Exploring Menu, Orders, and Customer Behavior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76D9C1-12AD-ACBE-30EA-066A2E1045B9}"/>
              </a:ext>
            </a:extLst>
          </p:cNvPr>
          <p:cNvSpPr txBox="1"/>
          <p:nvPr/>
        </p:nvSpPr>
        <p:spPr>
          <a:xfrm>
            <a:off x="2556387" y="4490745"/>
            <a:ext cx="4149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r>
              <a:rPr lang="en-US"/>
              <a:t>Creator: Zohal Zahir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378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11ECF46-D855-48F3-768B-578F1F3A2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029" y="2551837"/>
            <a:ext cx="1078369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Brief overview of the analysis: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analyzes restaurant menu data, order details, and customer behaviors using SQL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Sections covered: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Analysis, Order Analysis, Customer Behavior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A41E35-6190-BAB7-C634-DB0EDBABF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80109C-8974-9B5A-7DD4-1544CE7C3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6F882-B475-40D5-E1A0-F566E7421C7E}"/>
              </a:ext>
            </a:extLst>
          </p:cNvPr>
          <p:cNvSpPr txBox="1"/>
          <p:nvPr/>
        </p:nvSpPr>
        <p:spPr>
          <a:xfrm>
            <a:off x="1597742" y="1094724"/>
            <a:ext cx="89965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91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0CBEE76-8748-F7B7-3625-9377F9CA8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1969357"/>
            <a:ext cx="9704101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 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Viewing the Menu Items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menu_items;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94197-0010-4B4A-CBFC-FFCAADDFDAB8}"/>
              </a:ext>
            </a:extLst>
          </p:cNvPr>
          <p:cNvSpPr txBox="1"/>
          <p:nvPr/>
        </p:nvSpPr>
        <p:spPr>
          <a:xfrm>
            <a:off x="1451579" y="1308365"/>
            <a:ext cx="5987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Analysis</a:t>
            </a:r>
            <a:endParaRPr lang="en-AU"/>
          </a:p>
        </p:txBody>
      </p:sp>
      <p:pic>
        <p:nvPicPr>
          <p:cNvPr id="9" name="Picture 8" descr="A screenshot of a menu&#10;&#10;AI-generated content may be incorrect.">
            <a:extLst>
              <a:ext uri="{FF2B5EF4-FFF2-40B4-BE49-F238E27FC236}">
                <a16:creationId xmlns:a16="http://schemas.microsoft.com/office/drawing/2014/main" id="{0E665AA7-14F3-12F4-1D71-B3E461AD1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01" y="3094805"/>
            <a:ext cx="3975064" cy="27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8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ADA778C-0219-43DE-49D1-835B94CD5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782832"/>
            <a:ext cx="9603275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Number of Menu Items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COUNT(*) FROM menu_items;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687B8723-5627-02E4-565A-BA62925B9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159234"/>
            <a:ext cx="10174950" cy="2351379"/>
          </a:xfrm>
        </p:spPr>
      </p:pic>
    </p:spTree>
    <p:extLst>
      <p:ext uri="{BB962C8B-B14F-4D97-AF65-F5344CB8AC3E}">
        <p14:creationId xmlns:p14="http://schemas.microsoft.com/office/powerpoint/2010/main" val="340625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C2FE8E4-0089-E3D1-AAA5-A96A22447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8" y="415630"/>
            <a:ext cx="9603275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cap="none">
                <a:latin typeface="Arial" panose="020B0604020202020204" pitchFamily="34" charset="0"/>
              </a:rPr>
              <a:t>3.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Least and Most Expensive Menu Items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menu_items ORDER BY price DESC;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3AF81-2607-C256-EEEE-BCCA05E7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733368"/>
            <a:ext cx="9603275" cy="273297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Most Expensive item= Shrimp scampi</a:t>
            </a:r>
            <a:br>
              <a:rPr lang="en-US"/>
            </a:br>
            <a:endParaRPr lang="en-US"/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Least Expensive item=Edemame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11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BB085D4-4093-0430-AEA7-AF9F68962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752056"/>
            <a:ext cx="445186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lang="en-US" altLang="en-US" sz="1800" b="1" cap="none">
                <a:latin typeface="Arial" panose="020B0604020202020204" pitchFamily="34" charset="0"/>
              </a:rPr>
              <a:t>. What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Italian Dishes Count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COUNT(*) FROM menu_items WHERE Category='Italian';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18A71-A79B-7651-381E-55AAAE5C7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Answer: 9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122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B3E5336-1D9D-9D8A-5A0C-7F5D74CBC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821306"/>
            <a:ext cx="75992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What are Least and Most Expensive Italian Dishes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 for least expensive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menu_items WHERE Category='Italian' ORDER BY price;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 for most expensive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menu_items WHERE Category='Italian' ORDER BY price DESC;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255E-9053-590D-A2B5-1C0C91D40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Answer:</a:t>
            </a:r>
            <a:br>
              <a:rPr lang="en-US"/>
            </a:br>
            <a:r>
              <a:rPr lang="en-US"/>
              <a:t>Least Expensive = Fettucine Alfredo</a:t>
            </a:r>
            <a:br>
              <a:rPr lang="en-US"/>
            </a:br>
            <a:br>
              <a:rPr lang="en-US"/>
            </a:br>
            <a:r>
              <a:rPr lang="en-US"/>
              <a:t>Most Expensive= Shrimp Scampi</a:t>
            </a:r>
            <a:endParaRPr lang="en-AU"/>
          </a:p>
        </p:txBody>
      </p:sp>
      <p:pic>
        <p:nvPicPr>
          <p:cNvPr id="6" name="Picture 5" descr="A screenshot of a computer screen">
            <a:extLst>
              <a:ext uri="{FF2B5EF4-FFF2-40B4-BE49-F238E27FC236}">
                <a16:creationId xmlns:a16="http://schemas.microsoft.com/office/drawing/2014/main" id="{E037172F-6C4B-AFD1-6A4B-26CA1587A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579" y="2252498"/>
            <a:ext cx="3810532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0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E7C4D53-40A3-405B-C429-CB9816F1B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667418"/>
            <a:ext cx="970803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en-US" altLang="en-US" sz="1800" b="1" cap="none">
                <a:latin typeface="Arial" panose="020B0604020202020204" pitchFamily="34" charset="0"/>
              </a:rPr>
              <a:t>. What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b="1" cap="none">
                <a:latin typeface="Arial" panose="020B0604020202020204" pitchFamily="34" charset="0"/>
              </a:rPr>
              <a:t>n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umber of Dishes per Category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Category, COUNT(menu_item_id) AS num_dishes FROM menu_items GROUP BY Category;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F802FD8B-3116-C77D-31BE-A68B259CD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82" y="2148823"/>
            <a:ext cx="8030696" cy="3105583"/>
          </a:xfrm>
        </p:spPr>
      </p:pic>
    </p:spTree>
    <p:extLst>
      <p:ext uri="{BB962C8B-B14F-4D97-AF65-F5344CB8AC3E}">
        <p14:creationId xmlns:p14="http://schemas.microsoft.com/office/powerpoint/2010/main" val="125516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8FFAA16-E099-65F1-F83B-8965E158A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667418"/>
            <a:ext cx="677621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Average Dish Price per Category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Category, ROUND(AVG(price),2) AS Avg_dish_price FROM menu_items GROUP BY Category;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273D562F-BA30-CC21-175C-EA14590AB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26" y="2086722"/>
            <a:ext cx="9351948" cy="3449638"/>
          </a:xfrm>
        </p:spPr>
      </p:pic>
    </p:spTree>
    <p:extLst>
      <p:ext uri="{BB962C8B-B14F-4D97-AF65-F5344CB8AC3E}">
        <p14:creationId xmlns:p14="http://schemas.microsoft.com/office/powerpoint/2010/main" val="73304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546A-E636-B819-C9ED-A26B35C3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426" y="1022554"/>
            <a:ext cx="6296240" cy="841031"/>
          </a:xfrm>
        </p:spPr>
        <p:txBody>
          <a:bodyPr>
            <a:normAutofit/>
          </a:bodyPr>
          <a:lstStyle/>
          <a:p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Details Analysis</a:t>
            </a:r>
            <a:endParaRPr lang="en-AU" sz="4000"/>
          </a:p>
        </p:txBody>
      </p:sp>
    </p:spTree>
    <p:extLst>
      <p:ext uri="{BB962C8B-B14F-4D97-AF65-F5344CB8AC3E}">
        <p14:creationId xmlns:p14="http://schemas.microsoft.com/office/powerpoint/2010/main" val="259698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680045A-659A-1302-0828-8A9236641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70761"/>
            <a:ext cx="9603275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b="1" cap="none">
                <a:latin typeface="Arial" panose="020B0604020202020204" pitchFamily="34" charset="0"/>
              </a:rPr>
              <a:t>1.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Viewing the Order Details Table &amp; Date Range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order_details;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MIN(order_date), MAX(order_date) FROM order_details;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D96B4019-08EC-A73F-8DEA-7824CEFA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1917802"/>
            <a:ext cx="6857724" cy="3449638"/>
          </a:xfrm>
        </p:spPr>
      </p:pic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6DCC4A8C-D479-9987-FA11-AAD6A7615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8" t="411" r="68447" b="39924"/>
          <a:stretch/>
        </p:blipFill>
        <p:spPr>
          <a:xfrm>
            <a:off x="8451051" y="1917802"/>
            <a:ext cx="3023194" cy="201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1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68B0949-D26F-C90E-A491-164B0DECB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613557"/>
            <a:ext cx="9603274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2.What is </a:t>
            </a:r>
            <a:r>
              <a:rPr lang="en-US" altLang="en-US" sz="1800" b="1" cap="none">
                <a:latin typeface="Arial" panose="020B0604020202020204" pitchFamily="34" charset="0"/>
              </a:rPr>
              <a:t>t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otal </a:t>
            </a:r>
            <a:r>
              <a:rPr lang="en-US" altLang="en-US" sz="1800" b="1" cap="none">
                <a:latin typeface="Arial" panose="020B0604020202020204" pitchFamily="34" charset="0"/>
              </a:rPr>
              <a:t>o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rders count ?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COUNT(DISTINCT(item_id)) FROM order_details;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277B1F-397F-3790-E61A-A3E47C3A7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332793"/>
            <a:ext cx="3696216" cy="2010056"/>
          </a:xfrm>
        </p:spPr>
      </p:pic>
    </p:spTree>
    <p:extLst>
      <p:ext uri="{BB962C8B-B14F-4D97-AF65-F5344CB8AC3E}">
        <p14:creationId xmlns:p14="http://schemas.microsoft.com/office/powerpoint/2010/main" val="1327769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E6D8715-7C28-06DA-C215-E1338F2F1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613556"/>
            <a:ext cx="3621504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. What are </a:t>
            </a:r>
            <a:r>
              <a:rPr lang="en-US" altLang="en-US" sz="1800" b="1" cap="none">
                <a:latin typeface="Arial" panose="020B0604020202020204" pitchFamily="34" charset="0"/>
              </a:rPr>
              <a:t>t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otal Items ordered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COUNT(*) FROM order_details;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6E19BB23-3128-5FF3-6882-6148FF4ED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551" y="2282714"/>
            <a:ext cx="5134692" cy="1952898"/>
          </a:xfrm>
        </p:spPr>
      </p:pic>
    </p:spTree>
    <p:extLst>
      <p:ext uri="{BB962C8B-B14F-4D97-AF65-F5344CB8AC3E}">
        <p14:creationId xmlns:p14="http://schemas.microsoft.com/office/powerpoint/2010/main" val="2673737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CDB58C1-058E-B2E3-682F-9B8DD02EC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80" y="505403"/>
            <a:ext cx="9603274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What is the  order with most Items?</a:t>
            </a: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order_id, COUNT(item_id) AS Count_of_items FROM order_details GROUP BY order_id DESC;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59438F-B954-EF93-1C6F-4EBCB78C5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794" y="2089043"/>
            <a:ext cx="5268060" cy="336279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1BD886-2780-8AB1-DC26-E90CBDA16897}"/>
              </a:ext>
            </a:extLst>
          </p:cNvPr>
          <p:cNvSpPr txBox="1"/>
          <p:nvPr/>
        </p:nvSpPr>
        <p:spPr>
          <a:xfrm>
            <a:off x="1612490" y="2089043"/>
            <a:ext cx="34019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Answer: </a:t>
            </a:r>
            <a:br>
              <a:rPr lang="en-US"/>
            </a:br>
            <a:endParaRPr lang="en-US"/>
          </a:p>
          <a:p>
            <a:r>
              <a:rPr lang="en-US" sz="1100"/>
              <a:t>Orders with ID 5200, 5066,4836 and 4482 are the orders with most items</a:t>
            </a:r>
            <a:endParaRPr lang="en-AU" sz="11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2BC374-F0CE-A2FA-77F2-E9B14B87A5FA}"/>
                  </a:ext>
                </a:extLst>
              </p14:cNvPr>
              <p14:cNvContentPartPr/>
              <p14:nvPr/>
            </p14:nvContentPartPr>
            <p14:xfrm>
              <a:off x="6027089" y="2644595"/>
              <a:ext cx="709560" cy="455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2BC374-F0CE-A2FA-77F2-E9B14B87A5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73449" y="2536955"/>
                <a:ext cx="817200" cy="67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487889F-F035-5D8F-2AC1-901E2046BEE6}"/>
                  </a:ext>
                </a:extLst>
              </p14:cNvPr>
              <p14:cNvContentPartPr/>
              <p14:nvPr/>
            </p14:nvContentPartPr>
            <p14:xfrm>
              <a:off x="2664329" y="2792195"/>
              <a:ext cx="97560" cy="10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487889F-F035-5D8F-2AC1-901E2046BE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10329" y="2684195"/>
                <a:ext cx="2052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FE7771-C334-A82E-ADF7-02084765CA5C}"/>
                  </a:ext>
                </a:extLst>
              </p14:cNvPr>
              <p14:cNvContentPartPr/>
              <p14:nvPr/>
            </p14:nvContentPartPr>
            <p14:xfrm>
              <a:off x="2792129" y="2713355"/>
              <a:ext cx="325080" cy="20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FE7771-C334-A82E-ADF7-02084765CA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38129" y="2605355"/>
                <a:ext cx="4327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811D058-F18B-795D-7E66-A89BF7DE66AC}"/>
                  </a:ext>
                </a:extLst>
              </p14:cNvPr>
              <p14:cNvContentPartPr/>
              <p14:nvPr/>
            </p14:nvContentPartPr>
            <p14:xfrm>
              <a:off x="3126569" y="2772395"/>
              <a:ext cx="41364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811D058-F18B-795D-7E66-A89BF7DE66A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72569" y="2664755"/>
                <a:ext cx="521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8BCAD4C-E6BB-D0DD-26B9-D0E935BDD879}"/>
                  </a:ext>
                </a:extLst>
              </p14:cNvPr>
              <p14:cNvContentPartPr/>
              <p14:nvPr/>
            </p14:nvContentPartPr>
            <p14:xfrm>
              <a:off x="3549209" y="2772395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8BCAD4C-E6BB-D0DD-26B9-D0E935BDD8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95569" y="266475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E623DD4-5ECE-6457-83DC-038D6CF70AD6}"/>
                  </a:ext>
                </a:extLst>
              </p14:cNvPr>
              <p14:cNvContentPartPr/>
              <p14:nvPr/>
            </p14:nvContentPartPr>
            <p14:xfrm>
              <a:off x="3913169" y="2771315"/>
              <a:ext cx="189000" cy="19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E623DD4-5ECE-6457-83DC-038D6CF70AD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59529" y="2663315"/>
                <a:ext cx="2966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7561C42-D1EE-FEFD-2CF7-0FC1467F85DD}"/>
                  </a:ext>
                </a:extLst>
              </p14:cNvPr>
              <p14:cNvContentPartPr/>
              <p14:nvPr/>
            </p14:nvContentPartPr>
            <p14:xfrm>
              <a:off x="3824609" y="2782475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7561C42-D1EE-FEFD-2CF7-0FC1467F85D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0969" y="267447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8389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F468B53-B98B-853F-3880-9227DBDDC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2395" y="357919"/>
            <a:ext cx="11381642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cap="none">
                <a:latin typeface="Arial" panose="020B0604020202020204" pitchFamily="34" charset="0"/>
              </a:rPr>
              <a:t>5. How many orders had more than 12 items?</a:t>
            </a:r>
            <a:br>
              <a:rPr lang="en-US" altLang="en-US" sz="1800" b="1" cap="none">
                <a:latin typeface="Arial" panose="020B0604020202020204" pitchFamily="34" charset="0"/>
              </a:rPr>
            </a:br>
            <a:br>
              <a:rPr lang="en-US" altLang="en-US" sz="1800" b="1" cap="none"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COUNT(*) FROM (SELECT order_id, COUNT(item_id) AS Count_of_items FROM order_details GROUP BY order_id HAVING Count_of_items &gt; 12) AS NUM_ORDERS;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641A3AD0-6E4A-178A-19D9-595CF578A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27295"/>
            <a:ext cx="5694827" cy="337061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EF387A-436C-0D23-EBEB-9901532AE2E2}"/>
              </a:ext>
            </a:extLst>
          </p:cNvPr>
          <p:cNvSpPr txBox="1"/>
          <p:nvPr/>
        </p:nvSpPr>
        <p:spPr>
          <a:xfrm>
            <a:off x="766916" y="2113935"/>
            <a:ext cx="37165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Answer:</a:t>
            </a:r>
            <a:br>
              <a:rPr lang="en-US"/>
            </a:br>
            <a:endParaRPr lang="en-US"/>
          </a:p>
          <a:p>
            <a:r>
              <a:rPr lang="en-US" sz="1100"/>
              <a:t>There are 20 orders with more than 12 items</a:t>
            </a:r>
            <a:endParaRPr lang="en-AU" sz="11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CE43631-CE93-2422-FC52-5608F0C369E8}"/>
                  </a:ext>
                </a:extLst>
              </p14:cNvPr>
              <p14:cNvContentPartPr/>
              <p14:nvPr/>
            </p14:nvContentPartPr>
            <p14:xfrm>
              <a:off x="6253169" y="4070555"/>
              <a:ext cx="204840" cy="64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CE43631-CE93-2422-FC52-5608F0C369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9529" y="3962555"/>
                <a:ext cx="312480" cy="27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8870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1DAE-D24F-0521-D0AC-C6D3EE6F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2387"/>
            <a:ext cx="9603275" cy="821367"/>
          </a:xfrm>
        </p:spPr>
        <p:txBody>
          <a:bodyPr/>
          <a:lstStyle/>
          <a:p>
            <a:pPr algn="ctr"/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Behavior Analysis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FB99-6BE8-444B-5938-958F812DD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537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08A969E-5DA1-0A67-0ACD-50FFE46E8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613557"/>
            <a:ext cx="7584127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 Combine the menu_items and order_details tables into a single table.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order_details od LEFT JOIN menu_items mi ON od.item_id = mi.menu_item_id;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FF4041-801A-D89F-0616-26D06BEA4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80" y="2016125"/>
            <a:ext cx="8732136" cy="3449638"/>
          </a:xfrm>
        </p:spPr>
      </p:pic>
    </p:spTree>
    <p:extLst>
      <p:ext uri="{BB962C8B-B14F-4D97-AF65-F5344CB8AC3E}">
        <p14:creationId xmlns:p14="http://schemas.microsoft.com/office/powerpoint/2010/main" val="4067737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1CAEEF-6B53-43E6-ED09-D74C21AB3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30433" y="-39628"/>
            <a:ext cx="9724421" cy="210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What were the least and most ordered items? What categories were they in?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item_name, COUNT(order_details_id) AS num_purchases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order_details od LEFT JOIN menu_items mi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ON od.item_id = mi.menu_item_id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 item_name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ORDER BY num_purchases DESC;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66F696FC-426C-C378-3A66-D7AA683BA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33" y="2428771"/>
            <a:ext cx="4201111" cy="3296109"/>
          </a:xfr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7C6FEE-9FA7-070C-038B-997011573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478" y="2428770"/>
            <a:ext cx="4887007" cy="32961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EEA93C-B100-5E58-BD98-3EBABA2E6413}"/>
              </a:ext>
            </a:extLst>
          </p:cNvPr>
          <p:cNvSpPr txBox="1"/>
          <p:nvPr/>
        </p:nvSpPr>
        <p:spPr>
          <a:xfrm>
            <a:off x="1382813" y="2112034"/>
            <a:ext cx="4096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Most ordered = Hamburger</a:t>
            </a:r>
            <a:endParaRPr lang="en-AU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7EEC4-BA96-DE77-FB37-0ACA90D462BB}"/>
              </a:ext>
            </a:extLst>
          </p:cNvPr>
          <p:cNvSpPr txBox="1"/>
          <p:nvPr/>
        </p:nvSpPr>
        <p:spPr>
          <a:xfrm>
            <a:off x="6877478" y="2068641"/>
            <a:ext cx="4096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Least ordered = Chicken Tacos</a:t>
            </a:r>
            <a:endParaRPr lang="en-AU" sz="11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85C676C-E4D4-98F8-6A10-B1545E5C6F1A}"/>
                  </a:ext>
                </a:extLst>
              </p14:cNvPr>
              <p14:cNvContentPartPr/>
              <p14:nvPr/>
            </p14:nvContentPartPr>
            <p14:xfrm>
              <a:off x="1553369" y="2772395"/>
              <a:ext cx="1317960" cy="79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85C676C-E4D4-98F8-6A10-B1545E5C6F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9369" y="2664395"/>
                <a:ext cx="14256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86A6A7E-F1D6-D5EF-67FA-4A7F51C6D051}"/>
                  </a:ext>
                </a:extLst>
              </p14:cNvPr>
              <p14:cNvContentPartPr/>
              <p14:nvPr/>
            </p14:nvContentPartPr>
            <p14:xfrm>
              <a:off x="7079009" y="2836835"/>
              <a:ext cx="1434960" cy="143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86A6A7E-F1D6-D5EF-67FA-4A7F51C6D0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5009" y="2729195"/>
                <a:ext cx="1542600" cy="35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1424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90CC84D-CBE8-1E4D-9531-72AD5A273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582780"/>
            <a:ext cx="6572633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en-US" altLang="en-US" sz="1800" b="1" cap="none">
                <a:latin typeface="Arial" panose="020B0604020202020204" pitchFamily="34" charset="0"/>
              </a:rPr>
              <a:t>What are l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east and most </a:t>
            </a:r>
            <a:r>
              <a:rPr lang="en-US" altLang="en-US" sz="1800" b="1" cap="none">
                <a:latin typeface="Arial" panose="020B0604020202020204" pitchFamily="34" charset="0"/>
              </a:rPr>
              <a:t>o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rdered </a:t>
            </a:r>
            <a:r>
              <a:rPr lang="en-US" altLang="en-US" sz="1800" b="1" cap="none">
                <a:latin typeface="Arial" panose="020B0604020202020204" pitchFamily="34" charset="0"/>
              </a:rPr>
              <a:t>i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tems by category?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item_name, Category, COUNT(order_details_id) AS num_purchases FROM order_details od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LEFT JOIN menu_items mi ON od.item_id = mi.menu_item_id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 item_name, Category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ORDER BY num_purchases DESC;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31F62-5139-E0E1-873A-D921AEEB3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/>
              <a:t>Answer:</a:t>
            </a:r>
            <a:br>
              <a:rPr lang="en-US" sz="1100"/>
            </a:br>
            <a:endParaRPr lang="en-US" sz="1100"/>
          </a:p>
          <a:p>
            <a:r>
              <a:rPr lang="en-US" sz="1100"/>
              <a:t>   Most ordered category=American</a:t>
            </a:r>
          </a:p>
          <a:p>
            <a:r>
              <a:rPr lang="en-US" sz="1100"/>
              <a:t>   Least ordered category= Mexican</a:t>
            </a:r>
            <a:endParaRPr lang="en-AU" sz="1100"/>
          </a:p>
        </p:txBody>
      </p:sp>
    </p:spTree>
    <p:extLst>
      <p:ext uri="{BB962C8B-B14F-4D97-AF65-F5344CB8AC3E}">
        <p14:creationId xmlns:p14="http://schemas.microsoft.com/office/powerpoint/2010/main" val="1890230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31E84E6-1592-AD06-CC0A-6D91B9C0D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82753" y="295516"/>
            <a:ext cx="9672101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What were the top 5 orders that spent the most money?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order_id, SUM(price) AS total_spend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order_details od LEFT JOIN menu_items mi ON od.item_id = mi.menu_item_id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 order_id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 BY total_spend DESC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LIMIT 5;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F27B4A84-296A-B688-A43E-023FD6DC2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424" y="1989135"/>
            <a:ext cx="6001273" cy="3988878"/>
          </a:xfrm>
        </p:spPr>
      </p:pic>
    </p:spTree>
    <p:extLst>
      <p:ext uri="{BB962C8B-B14F-4D97-AF65-F5344CB8AC3E}">
        <p14:creationId xmlns:p14="http://schemas.microsoft.com/office/powerpoint/2010/main" val="2097663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4896772-1447-A1D2-998B-63C6BFA97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246017"/>
            <a:ext cx="885050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View the details of the highest spend order. Which specific items were purchased?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category, COUNT(item_id) AS num_items FROM order_details od LEFT JOIN menu_items mi ON od.item_id = mi.menu_item_id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WHERE order_id=440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 category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F51EC2CC-11C1-9518-1FCA-7FE3258B8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596" y="1883652"/>
            <a:ext cx="4715764" cy="349040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282542-1B0E-EBF6-7DE2-3198A35CDD95}"/>
                  </a:ext>
                </a:extLst>
              </p14:cNvPr>
              <p14:cNvContentPartPr/>
              <p14:nvPr/>
            </p14:nvContentPartPr>
            <p14:xfrm>
              <a:off x="3567840" y="4072120"/>
              <a:ext cx="1164960" cy="732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282542-1B0E-EBF6-7DE2-3198A35CDD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4200" y="3964480"/>
                <a:ext cx="1272600" cy="9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19F88A-289E-3638-0C62-7620A39D0B8A}"/>
                  </a:ext>
                </a:extLst>
              </p14:cNvPr>
              <p14:cNvContentPartPr/>
              <p14:nvPr/>
            </p14:nvContentPartPr>
            <p14:xfrm>
              <a:off x="3769080" y="3891040"/>
              <a:ext cx="116892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19F88A-289E-3638-0C62-7620A39D0B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5080" y="3675040"/>
                <a:ext cx="1276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9487B1-B314-E249-7341-7CAF77EA2CFE}"/>
                  </a:ext>
                </a:extLst>
              </p14:cNvPr>
              <p14:cNvContentPartPr/>
              <p14:nvPr/>
            </p14:nvContentPartPr>
            <p14:xfrm>
              <a:off x="4571880" y="3941800"/>
              <a:ext cx="721440" cy="22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9487B1-B314-E249-7341-7CAF77EA2C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18240" y="3834160"/>
                <a:ext cx="829080" cy="23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447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F6D4FAB-77AD-78A2-B4C0-F21524DC0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139481"/>
            <a:ext cx="9445214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 View the details of the top 5 highest spend orders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order_id, category, COUNT(item_id) AS num_items FROM order_details od LEFT JOIN menu_items mi ON od.item_id = mi.menu_item_id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WHERE order_id IN (330, 440, 1957, 2075, 2675)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 order_id, category;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4701EC21-F819-19D3-CA10-909A38F05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094955"/>
            <a:ext cx="4377028" cy="3337734"/>
          </a:xfrm>
        </p:spPr>
      </p:pic>
    </p:spTree>
    <p:extLst>
      <p:ext uri="{BB962C8B-B14F-4D97-AF65-F5344CB8AC3E}">
        <p14:creationId xmlns:p14="http://schemas.microsoft.com/office/powerpoint/2010/main" val="2953986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43A7693-1053-52D4-F14E-63483B023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79" y="95229"/>
            <a:ext cx="967853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How much was the most expensive order in the dataset?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Query: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order_id, SUM(price) AS total_spend FROM order_details od LEFT JOIN menu_items mi ON od.item_id = mi.menu_item_id 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 BY order_id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ORDER BY total_spend DESC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LIMIT 1;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D17A56-F5CF-4E48-5E69-79D5410DB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531" y="2112116"/>
            <a:ext cx="4191585" cy="29626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656448-0EC0-3F34-3169-98126146E399}"/>
              </a:ext>
            </a:extLst>
          </p:cNvPr>
          <p:cNvSpPr txBox="1"/>
          <p:nvPr/>
        </p:nvSpPr>
        <p:spPr>
          <a:xfrm>
            <a:off x="1658057" y="2504849"/>
            <a:ext cx="48803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Answer:</a:t>
            </a:r>
            <a:br>
              <a:rPr lang="en-US" sz="1100"/>
            </a:br>
            <a:endParaRPr lang="en-US" sz="1100"/>
          </a:p>
          <a:p>
            <a:endParaRPr lang="en-US" sz="1100"/>
          </a:p>
          <a:p>
            <a:r>
              <a:rPr lang="en-US" sz="1100"/>
              <a:t>The price of most expensive order is 192.15.</a:t>
            </a:r>
            <a:endParaRPr lang="en-AU" sz="11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0C7CC19-6FC2-15A0-47E7-E29F9C1747B8}"/>
                  </a:ext>
                </a:extLst>
              </p14:cNvPr>
              <p14:cNvContentPartPr/>
              <p14:nvPr/>
            </p14:nvContentPartPr>
            <p14:xfrm>
              <a:off x="7236689" y="4080275"/>
              <a:ext cx="97416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0C7CC19-6FC2-15A0-47E7-E29F9C1747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82689" y="3864275"/>
                <a:ext cx="108180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860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210CA-6AF9-10D2-1756-22EC98AA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5446"/>
            <a:ext cx="9603275" cy="3440900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/>
              <a:t>Menu Optimization:</a:t>
            </a:r>
            <a:r>
              <a:rPr lang="en-US"/>
              <a:t> Identify bestsellers, remove underperforming dishes, and adjust pricing.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Revenue Growth:</a:t>
            </a:r>
            <a:r>
              <a:rPr lang="en-US"/>
              <a:t> Target high-spend customers with promotions and upselling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Customer Insights:</a:t>
            </a:r>
            <a:r>
              <a:rPr lang="en-US"/>
              <a:t> Understand demand trends, popular cuisines, and high-value orders.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Inventory Management:</a:t>
            </a:r>
            <a:r>
              <a:rPr lang="en-US"/>
              <a:t> Forecast ingredient needs based on frequently ordered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Operational Efficiency:</a:t>
            </a:r>
            <a:r>
              <a:rPr lang="en-US"/>
              <a:t> Improve order fulfillment and reduce waste by analyzing large orders.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Strategic Planning:</a:t>
            </a:r>
            <a:r>
              <a:rPr lang="en-US"/>
              <a:t> Expand successful categories, introduce new dishes, and refine pricing models.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analysis helps drive profitability, enhance customer experience, and streamline restaurant operations. </a:t>
            </a:r>
          </a:p>
          <a:p>
            <a:pPr marL="0" indent="0">
              <a:buNone/>
            </a:pPr>
            <a:endParaRPr lang="en-US"/>
          </a:p>
          <a:p>
            <a:endParaRPr lang="en-AU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AF2094-E545-879D-E6A7-917D2CD3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Key Business Applications of the Analysis</a:t>
            </a:r>
            <a:br>
              <a:rPr lang="en-US" b="1"/>
            </a:b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6679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C7BAC-ABD4-3453-40F1-B3B528C2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835742"/>
            <a:ext cx="9603275" cy="4630603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/>
              <a:t>Thank you for your time!</a:t>
            </a:r>
          </a:p>
          <a:p>
            <a:pPr algn="ctr"/>
            <a:endParaRPr lang="en-AU" sz="3200" b="1"/>
          </a:p>
          <a:p>
            <a:pPr marL="0" indent="0">
              <a:buNone/>
            </a:pPr>
            <a:endParaRPr lang="en-AU" sz="1800"/>
          </a:p>
          <a:p>
            <a:pPr marL="0" indent="0">
              <a:buNone/>
            </a:pPr>
            <a:endParaRPr lang="en-AU" sz="1800"/>
          </a:p>
          <a:p>
            <a:pPr marL="0" indent="0">
              <a:buNone/>
            </a:pPr>
            <a:r>
              <a:rPr lang="en-AU" sz="1800"/>
              <a:t>Created by: Zohal Zahir</a:t>
            </a:r>
          </a:p>
        </p:txBody>
      </p:sp>
    </p:spTree>
    <p:extLst>
      <p:ext uri="{BB962C8B-B14F-4D97-AF65-F5344CB8AC3E}">
        <p14:creationId xmlns:p14="http://schemas.microsoft.com/office/powerpoint/2010/main" val="23056414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1228</Words>
  <Application>Microsoft Office PowerPoint</Application>
  <PresentationFormat>Widescreen</PresentationFormat>
  <Paragraphs>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Unicode MS</vt:lpstr>
      <vt:lpstr>Gill Sans MT</vt:lpstr>
      <vt:lpstr>Rockwell Extra Bold</vt:lpstr>
      <vt:lpstr>Wingdings</vt:lpstr>
      <vt:lpstr>Gallery</vt:lpstr>
      <vt:lpstr>PowerPoint Presentation</vt:lpstr>
      <vt:lpstr>PowerPoint Presentation</vt:lpstr>
      <vt:lpstr> 1.  Viewing the Menu Items  SQL Query:   SELECT * FROM menu_items; </vt:lpstr>
      <vt:lpstr>2. Total Number of Menu Items SQL Query:   SELECT COUNT(*) FROM menu_items; </vt:lpstr>
      <vt:lpstr>3.  Least and Most Expensive Menu Items   SQL Query:   SELECT * FROM menu_items ORDER BY price DESC; </vt:lpstr>
      <vt:lpstr>4. What are  Italian Dishes Count SQL Query:   SELECT COUNT(*) FROM menu_items WHERE Category='Italian'; </vt:lpstr>
      <vt:lpstr>5. What are Least and Most Expensive Italian Dishes SQL Query for least expensive:  SELECT * FROM menu_items WHERE Category='Italian' ORDER BY price; SQL Query for most expensive:  SELECT * FROM menu_items WHERE Category='Italian' ORDER BY price DESC; </vt:lpstr>
      <vt:lpstr>6. What are  number of Dishes per Category  SQL Query:   SELECT Category, COUNT(menu_item_id) AS num_dishes FROM menu_items GROUP BY Category; </vt:lpstr>
      <vt:lpstr>7. Average Dish Price per Category  SQL Query:   SELECT Category, ROUND(AVG(price),2) AS Avg_dish_price FROM menu_items GROUP BY Category; </vt:lpstr>
      <vt:lpstr>Order Details Analysis</vt:lpstr>
      <vt:lpstr>1. Viewing the Order Details Table &amp; Date Range  SQL Query:   SELECT * FROM order_details;  SQL Query:   SELECT MIN(order_date), MAX(order_date) FROM order_details;  </vt:lpstr>
      <vt:lpstr>2.What is total orders count ?  SQL Query:   SELECT COUNT(DISTINCT(item_id)) FROM order_details; </vt:lpstr>
      <vt:lpstr>3 . What are total Items ordered  SQL Query:   SELECT COUNT(*) FROM order_details; </vt:lpstr>
      <vt:lpstr>4. What is the  order with most Items?  SQL Query:   SELECT order_id, COUNT(item_id) AS Count_of_items FROM order_details GROUP BY order_id DESC; </vt:lpstr>
      <vt:lpstr>5. How many orders had more than 12 items?  SQL Query:   SELECT COUNT(*) FROM (SELECT order_id, COUNT(item_id) AS Count_of_items FROM order_details GROUP BY order_id HAVING Count_of_items &gt; 12) AS NUM_ORDERS; </vt:lpstr>
      <vt:lpstr>Customer Behavior Analysis</vt:lpstr>
      <vt:lpstr> 1. Combine the menu_items and order_details tables into a single table.  SQL Query:   SELECT * FROM order_details od LEFT JOIN menu_items mi ON od.item_id = mi.menu_item_id; </vt:lpstr>
      <vt:lpstr>2. What were the least and most ordered items? What categories were they in?  SQL Query:   SELECT item_name, COUNT(order_details_id) AS num_purchases  FROM order_details od LEFT JOIN menu_items mi  ON od.item_id = mi.menu_item_id  GROUP BY item_name  ORDER BY num_purchases DESC; </vt:lpstr>
      <vt:lpstr>3.What are least and most ordered items by category? SQL Query:  SELECT item_name, Category, COUNT(order_details_id) AS num_purchases FROM order_details od  LEFT JOIN menu_items mi ON od.item_id = mi.menu_item_id  GROUP BY item_name, Category  ORDER BY num_purchases DESC; </vt:lpstr>
      <vt:lpstr>3. What were the top 5 orders that spent the most money? SQL Query:   SELECT order_id, SUM(price) AS total_spend  FROM order_details od LEFT JOIN menu_items mi ON od.item_id = mi.menu_item_id  GROUP BY order_id  ORDER BY total_spend DESC  LIMIT 5; </vt:lpstr>
      <vt:lpstr>4. View the details of the highest spend order. Which specific items were purchased?  SQL Query:   SELECT category, COUNT(item_id) AS num_items FROM order_details od LEFT JOIN menu_items mi ON od.item_id = mi.menu_item_id  WHERE order_id=440  GROUP BY category; </vt:lpstr>
      <vt:lpstr>5.  View the details of the top 5 highest spend orders  SQL Query:   SELECT order_id, category, COUNT(item_id) AS num_items FROM order_details od LEFT JOIN menu_items mi ON od.item_id = mi.menu_item_id  WHERE order_id IN (330, 440, 1957, 2075, 2675)  GROUP BY order_id, category; </vt:lpstr>
      <vt:lpstr>6. How much was the most expensive order in the dataset?  SQL Query:   SELECT order_id, SUM(price) AS total_spend FROM order_details od LEFT JOIN menu_items mi ON od.item_id = mi.menu_item_id  GROUP BY order_id  ORDER BY total_spend DESC  LIMIT 1; </vt:lpstr>
      <vt:lpstr>Key Business Applications of the Analysis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Zohal Zahir</dc:creator>
  <cp:lastModifiedBy>Zohal Zahir</cp:lastModifiedBy>
  <cp:revision>2</cp:revision>
  <dcterms:created xsi:type="dcterms:W3CDTF">2025-03-25T05:31:29Z</dcterms:created>
  <dcterms:modified xsi:type="dcterms:W3CDTF">2025-03-25T06:57:44Z</dcterms:modified>
</cp:coreProperties>
</file>